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AC8"/>
                </a:solidFill>
              </a:rPr>
              <a:t>X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Sanal POS Merchant Migration Programı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</a:rPr>
              <a:t>Kontrollü • Ölçeklenebilir • Düşük Sürtünmeli Geçiş Modeli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45720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Hazırlayan:  Finhouse Danışmanlık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Tarih:  Mart 2026  |  Versiyon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AACC"/>
                </a:solidFill>
              </a:rPr>
              <a:t>GİZLİ — SADECE X BANK YETKİLİ KULLANICILARI İÇİN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46304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8AC8"/>
                </a:solidFill>
              </a:rPr>
              <a:t>18.000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Merchant
Hedef Portföy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834640"/>
            <a:ext cx="2468880" cy="2743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971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12 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EE"/>
                </a:solidFill>
              </a:rPr>
              <a:t>Program Süresi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931920"/>
            <a:ext cx="2468880" cy="2743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₺2+ Trilyon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26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CCEE"/>
                </a:solidFill>
              </a:rPr>
              <a:t>Türkiye e-Ticaret Pazarı
(BKM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Yönetici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X Bank merchant migration programının temel çıktıları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Fırsat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Mevcut Tedarikçi'e ödenen dış maliyet bünyeye alınır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ilişkisi doğrudan sahiplenilir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Cross-sell: BNPL, kredi, tahsilat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43000"/>
            <a:ext cx="27889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 Zorluk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18.000 merchant heterojen teknik yapıda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Toplu kampanya ile migration gerçekleşmiyor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Aktif operasyon + teknik enablement şart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143000"/>
            <a:ext cx="278892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🏭  Yaklaşım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Migration Factory modeli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3 fazlı: Discovery → Pilot →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Segment bazlı dalga yönetimi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143000"/>
            <a:ext cx="27889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143000"/>
            <a:ext cx="278892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17043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📈  Beklenti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572768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36 ay içinde ≥%70 portföy dönüşümü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182880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churn &lt;%20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084832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Brüt katkı marjı ~%30 (korumalı model)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703320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3794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Temel Metrikler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18.000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Merchant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12 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Program Süresi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5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~27 Kişi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5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Başlangıç Ekibi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79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1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65 USD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1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Birim Dönüşüm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‰2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İşlem Geliri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4114800"/>
            <a:ext cx="1874519" cy="86868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187952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~%70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64515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Dönüşüm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120640"/>
            <a:ext cx="11731752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257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Finhouse Değer Önermesi:  QNB deneyimli ekip  ▪  Migration Factory metodolojisi  ▪  Operasyon + teknik enablement tek çatı  ▪  Ölçülebilir KPI taahhüdü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Pazar Bağlamı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Türkiye e-ticaret ve ödeme ekosistemi — stratejik zemin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Türkiye Ödeme Pazarı — Temel Göstergeler (BKM / TCMB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₺2+ Trilyon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Yıllık e-ticaret
işlem hacmi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100M+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Bankalı kart
kullanıcısı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750M+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Yıllık online
kart işlem adedi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%24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YoY e-ticaret
hacim büyümesi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%99.9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platform
uptime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536192"/>
            <a:ext cx="1874519" cy="1005840"/>
          </a:xfrm>
          <a:prstGeom prst="rect">
            <a:avLst/>
          </a:prstGeom>
          <a:solidFill>
            <a:srgbClr val="D6EAF8"/>
          </a:solidFill>
          <a:ln w="9525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609344"/>
            <a:ext cx="1691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8AC8"/>
                </a:solidFill>
              </a:rPr>
              <a:t>T+1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066543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Hedef settlement
süresi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2697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Sanal POS Ekosistemi — Temel Oyuncular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063240"/>
            <a:ext cx="219456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Mevcut Tedarikçi
(Asseco SEE)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Büyük bankaların
Sanal POS altyapısı
Pazar lideri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0" y="3063240"/>
            <a:ext cx="219456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47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iyzico
(Mastercard)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KOBİ + e-ticaret
Odaklı tam çözüm
Digital-first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2040" y="3063240"/>
            <a:ext cx="219456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519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Paynet
(iyzico grubu)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7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B2B &amp; tedarikçi
ödeme altyapısı
Bayi ağları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59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23759" y="3063240"/>
            <a:ext cx="21945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BKM Express
/ Troy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19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Ulusal kart
altyapısı
Kamu destekli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306324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55480" y="3063240"/>
            <a:ext cx="21945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8632" y="3081528"/>
            <a:ext cx="20482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X Bank
Yeni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3438144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Kendi geliştirdiği
Sanal POS
Migration hedefinde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572000"/>
            <a:ext cx="11731752" cy="1097280"/>
          </a:xfrm>
          <a:prstGeom prst="rect">
            <a:avLst/>
          </a:prstGeom>
          <a:solidFill>
            <a:srgbClr val="E8F4FF"/>
          </a:solidFill>
          <a:ln w="1270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645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💡  Neden Şimdi?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Regülatör baskısı veri lokalizasyonunu zorunlu kılıyor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Mevcut Tedarikçi sözleşme yenileme dönemleri kritik pencere yaratıyor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010912"/>
            <a:ext cx="37490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BNPL / açık bankacılık fırsatları merchant verisi sahipliği gerektiriyor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Mevcut Durum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X Bank — Mevcut Tedarikçi altyapısından çıkışın stratejik gerekçesi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Mevcut Tedarikçi Yapısının Maliyeti ve Kısıtları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Yeni Platformun Getirisi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6304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3619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Merchant başı: 80 USD / yıl işletim bedeli → dış maliyet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İşlem başı: ‰3 komisyon → Mevcut Tedarikçi'e ödeniyor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1031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Merchant ilişkisi Mevcut Tedarikçi'e ait — cross-sell kör nokta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865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Veri sahipliği yok — davranış içgörüsü erişilemiyor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6700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API kontrolü sınırlı — ürün geliştirme yavaşlıyor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5351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✗  Fesih bildirimi: 6-12 ay önceden şart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53619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Merchant başı: 65 USD dönüşüm geliri → Finhouse'a ödeme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İşlem başı: ‰2 hizmet geliri → içselleşiyor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1031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Merchant ilişkisi doğrudan bankaya geçiyor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8658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Tam veri sahipliği: cross-sell, BNPL, kredi imkânı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6700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API tam kontrol: ürün geliştirme hız kazanıyor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95351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✓  Migration tamamlandığında Mevcut Tedarikçi sözleşmesi sonlanır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06908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33087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Yıllık Tasarruf / Gelir Potansiyeli — 18.000 Merchant Tam Dönüşüm Senaryosu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Mevcut Tedarikçi işletim
maliyeti tasarrufu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18.000 × $80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AC8"/>
                </a:solidFill>
              </a:rPr>
              <a:t>= $1.44M / yıl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İşlem komisyonu
tasarrufu (‰3→‰2)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Hacim bağımlı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≈ $500K–2M / yıl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Setup / dönüşüm
geliri (tek seferlik)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18.000 × $65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= $1.17M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498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Cross-sell potansiyel
gelir (tahmini)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8646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C3C7"/>
                </a:solidFill>
              </a:rPr>
              <a:t>Merchant başı
$150–500 / yıl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1389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AAFF"/>
                </a:solidFill>
              </a:rPr>
              <a:t>= $2.7M–9M /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Stratejik Kazanım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Kendi sanal POS platformuna geçişin çok boyutlu değeri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💰  Maliyet
Sahiplik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Mevcut Tedarikçi'e ödenen $80/merchant işletim bedeli + ‰3 komisyon bitiyor.
Toplam tasarruf potansiyeli: $2M+ / yıl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7889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🤝  Merchant
İlişkisi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 verisi, tercihleri ve ödeme davranışı direkt X Bank'a ait oluyor.
Yukarı satış ve ürün ekleme için altın zemin.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143000"/>
            <a:ext cx="27889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🔗  Cross-Sell
Fırsatları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Merchant'a özel: İşletme kredisi, BNPL, maaş ödeme, tahsilat çözümü.
Ortalama gelir potansiyeli: $150–500/merchant/yıl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143000"/>
            <a:ext cx="2788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14300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Platform
Kontrolü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719072"/>
            <a:ext cx="25786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API yol haritası, güvenlik politikaları, yeni ürün lansmanları
artık bankaya bağlı. İnovasyon hızı artıyor.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20624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159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Büyük Resim:  Merchant migration yalnızca teknik geçiş değil — X Bank için ödeme ekosisteminin kalıcı olarak içselleştirilmesidir.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280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Her geçen merchant, bankaya: (1) yıllık maliyet tasarrufu, (2) doğrudan ilişki, (3) veri varlığı, (4) cross-sell fırsatı getiriyor.
Migration programının başarısı doğrudan X Bank'ın ödeme stratejisinin başarısıyla eşdeğerdir.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Global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Stripe Connect, Adyen ve sektör liderleri — kanıtlanmış migration modelleri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53949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97280"/>
            <a:ext cx="539496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24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Stripe Connect — Platform Migration Modeli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3619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Standard → Express → Custom olgunluk skalası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922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Incremental migration: batch'lerle kademeli geçiş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48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Prefill yaklaşımı: önceki veriyle sürtünme azaltımı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042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Platform (banka) KYC/MASAK sorumluluğunu üstlenir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56032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Backward compatibility: eski endpoint 18 ay canlı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81635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Fiyat: %2.9 + $0.30 (standart), IC+ (kurumsal)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097280"/>
            <a:ext cx="53949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097280"/>
            <a:ext cx="539496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1124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Adyen for Platforms — Büyük Ölçekli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153619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İşlem başı sabit: $0.13 (~₺5) processing 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1792224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Interchange++ modeli: kart tipine göre %1.3–4.5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2048256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Account Holder modeli: KYC platform sorumluluğu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2304288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Farklı ülkeler için ayrı ödeme yöntemi anlaşması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2" y="2560320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Risk yönetimi: platform (banka) chargeback üstlenir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2816352"/>
            <a:ext cx="5166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Türkiye: BDDK yetkili banka direkt KYC yürütür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3749039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Büyük Ölçekli Migration Referans Projeleri (Sektör Verisi)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96512"/>
            <a:ext cx="38679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" y="413308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Proje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096512"/>
            <a:ext cx="22677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9663" y="413308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Ölçek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96512"/>
            <a:ext cx="16276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1330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Süre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096512"/>
            <a:ext cx="38221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4" y="4133088"/>
            <a:ext cx="3703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Anahtar 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407408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" y="443484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Worldpay / FIS konsolidasyon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407408"/>
            <a:ext cx="22677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9663" y="443484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500K+ merchant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07408"/>
            <a:ext cx="16276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43484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18–24 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407408"/>
            <a:ext cx="38221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4" y="443484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Segment bazlı kademeli geçiş zorunlu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81728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" y="470916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PayPal / Braintree platform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4681728"/>
            <a:ext cx="22677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9663" y="470916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100K+ platform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681728"/>
            <a:ext cx="16276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5664" y="470916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12 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681728"/>
            <a:ext cx="38221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4" y="470916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API uyumu korundu, eski endpoint 18 ay canlı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956048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464" y="498348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Fiserv / First 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4956048"/>
            <a:ext cx="22677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9663" y="498348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~6M merchant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956048"/>
            <a:ext cx="16276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5664" y="498348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36 ay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4956048"/>
            <a:ext cx="38221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01584" y="498348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"Never dark" yaklaşımı — parallel run şart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230368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" y="5257800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Türkiye yerel banka (Mevcut Tedarikçi→kendi)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5230368"/>
            <a:ext cx="22677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3" y="5257800"/>
            <a:ext cx="2148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~15K merchant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230368"/>
            <a:ext cx="16276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5664" y="5257800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14 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5230368"/>
            <a:ext cx="38221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01584" y="5257800"/>
            <a:ext cx="37033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KOBİ en yavaş; e-ticaret paket en hızlı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Merchant Segmentasyonu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18.000 merchant homojen değil — segment bazlı yaklaşım zorunlu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43000"/>
            <a:ext cx="27889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A  —  Hazır E-Ticaret
Paketleri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B4C"/>
                </a:solidFill>
              </a:rPr>
              <a:t>%40 — ~7.200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Ticimax, IdeaSoft, T-Soft, İkas, WooCommerce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Plugin/adaptör ile toplu enablement mümkün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Migration sürtünmesi en düşük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0.5x — en verimli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278892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~30 USD/merchant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143000"/>
            <a:ext cx="27889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B  —  Standart API
Entegrasyonu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AC8"/>
                </a:solidFill>
              </a:rPr>
              <a:t>%35 — ~6.300 merchant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Kendi IT ekibi olan orta/büyük merchant'lar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API/callback/3D/hash/sertifika koordinasyonu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Sandbox + test ortamı + go-live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1.0x — baz segment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2788920" cy="32004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~61 USD/merchant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14300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C  —  Ajans / Dış Yazılım
Bağımlı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</a:rPr>
              <a:t>%20 — ~3.600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Merchant yerine dış firmaya iletişim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Koordinasyon zinciri uzuyor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Ajans motivasyonu ve uyum kritik faktör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2.5x — en yüksek maliyet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160520"/>
            <a:ext cx="27889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~153 USD/merchant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143000"/>
            <a:ext cx="2788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143000"/>
            <a:ext cx="2788920" cy="50292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1612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Seg. D  —  Pasif / Düşük
Hacimli KOBİ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166420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C3C7"/>
                </a:solidFill>
              </a:rPr>
              <a:t>%5 — ~900 merchant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196596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Teknik kapasitesi en düşük grup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22128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Adım adım rehberlik, ekran paylaşımı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245973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Ticari öncelik düşük — wave sonuna bırakılır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27066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▸  İş yükü çarpanı: 0.8x — hafif operasyon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4160520"/>
            <a:ext cx="2788920" cy="32004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420624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maliyet: ~49 USD/merchant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553712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46177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Migration Öncelik Sırası  →  A Segmenti önce (en hızlı dönüşüm) → B → D → C (en fazla destek)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49560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</a:rPr>
              <a:t>Önemli Not: Segment bazlı fiyatlama teklife yansıtılmalı — Custom (C) merchant'lar standart ücretin 2x'i olarak ayrıca fiyatlanır.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 Aşamalı Yaklaşım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Discovery → Pilot → Scale — kontrollü ve ölçülebilir ilerleme modeli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78992"/>
            <a:ext cx="27432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1  Discovery &amp; Pilot  (Hafta 1–8)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078992"/>
            <a:ext cx="5943600" cy="45720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115568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2  Endüstriyel Migrasyon  (Ay 3–11)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078992"/>
            <a:ext cx="228600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1155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3  Hypercare &amp; Kapanış  (Ay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143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143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664208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1664208"/>
            <a:ext cx="36576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709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1  DISCOVERY &amp;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208483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Merchant envanteri alınır, segmentasyon yapılır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23317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Pilot kapsamı: 100–300 merchant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2578608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Arama scriptleri &amp; teknik playbook oluşturulur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2825496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Gerçek efor ve dönüşüm süresi ölçülür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072384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Çıktı: Segment stratejisi + ekip planı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331927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Süre: 8 hafta  |  Sabit bedel: $150K–250K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1664208"/>
            <a:ext cx="41148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1664208"/>
            <a:ext cx="411480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17099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2  ENDÜSTRİYEL MİGRASYON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208483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Dalga bazlı yayılım: A → B → D →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2331720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Merchant iletişim + teknik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2578608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Test ortamı + canlıya geçiş koordinasyonu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2825496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Haftalık/aylık KPI raporlaması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8" y="3072384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Issue yönetimi + banka koordinasyonu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3319272"/>
            <a:ext cx="3886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Hedef: Aylık 1.500–2.000 merchant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1664208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20" y="1664208"/>
            <a:ext cx="36576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709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FAZ 3  HYPERCARE &amp; KAPANIŞ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208483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Geçiş sonrası ilk 30 gün yoğun destek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23317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Açık issue takibi ve çözümü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2578608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KPI final raporu hazırlanır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2825496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Operasyon devir teslimi (banka ekibine)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3072384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Retrospective &amp; öğrenim belgesi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3319272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Süre: 4–6 hafta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3434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Başarı İçin Kritik Unsurlar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📊  Doğru Segmentasyon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Pilot öncesi tamamlanmış
must-have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0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🧪  Pilot Öğrenimleri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Wave 1 çıktıları
sonraki dalgaları şekillendirir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7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🔌  Plugin/Adaptör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7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Hazır paket merchant'lar
için self-serve enablement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59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📋  Net Başarı Kriteri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19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Canlı ilk başarılı işlem
= ödeme tetikleyicisi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480" y="4681728"/>
            <a:ext cx="2194560" cy="1005840"/>
          </a:xfrm>
          <a:prstGeom prst="rect">
            <a:avLst/>
          </a:prstGeom>
          <a:solidFill>
            <a:srgbClr val="D6EAF8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19" y="4736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🛡  Parallel Run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5029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Büyük merchant'lar için
eski+yeni sistem eşzamanlı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Faz 1 — Discovery &amp; Pilot Detayı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Hafta 1–8  |  Sabit bedel: $150.000–250.000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Haftalık Çalışma Planı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44752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H1–2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444752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14813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Envanter &amp; Analiz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master data alınır, segment dağılımı çıkarılır, önceliklendirme yapılır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020824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130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H3–4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020824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057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Süreç Tasarımı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Migration playbook, iletişim scriptleri, teknik onboarding checklist hazırlanır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596896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7066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H5–6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596896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2633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Pilot Yürütme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33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100–300 merchant pilot başlatılır, segment A ve B öncelikli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172968"/>
            <a:ext cx="8229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32826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H7–8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172968"/>
            <a:ext cx="5760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32095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Öğrenim &amp;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2095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Pilot çıktıları analiz edilir, wave planı güncellenir, kapasite netleştirilir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1078992"/>
            <a:ext cx="493776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5160" y="1078992"/>
            <a:ext cx="49377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11064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 Bank'tan İstenen Başlangıç Verisi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148132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Merchant master data (ID, ad, iletişim, segment)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1746504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Son 12 ay işlem hacmi ve adedi (özet)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011680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Platform / entegrasyon tipi dağılımı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22768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İlk 60 merchant geçişinden çıkan öğrenimler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2542032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Teknik dokümantasyon &amp; sandbox durumu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807208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Bankanın iç koordinatör atanması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072384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□  Hedef takvim ve başarı kriteri tanımı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8404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Discovery Çıktıları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Segment Stratejisi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Her segment için ayrı
migration playbook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Pilot Raporu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Dönüşüm süresi, engeller,
öğrenimler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7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Ekip &amp; Kapasite Planı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Faz 2 için ölçeklenmiş
ekip yapısı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59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Risk Matrisi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19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Tespit edilen riskler
ve azaltma planı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4187952"/>
            <a:ext cx="2194560" cy="1051560"/>
          </a:xfrm>
          <a:prstGeom prst="rect">
            <a:avLst/>
          </a:prstGeom>
          <a:solidFill>
            <a:srgbClr val="D6EAF8"/>
          </a:solidFill>
          <a:ln w="63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4242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Nihai Teklif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4526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Faz 2–3 için güncellenmiş
SOW ve fiyat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Faz 2 — Endüstriyel Migrasyon: Dalga Bazlı Yayılım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Ay 3–11  |  Aylık hedef: 500–800 merchant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Wave Planı — 9 Aylık Migrasyon Döngüsü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435608"/>
            <a:ext cx="2194560" cy="38404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1
(Ay 3–4)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Segment A
Hazır Paket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~~3.000 merchant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Plugin adaptörleri
aktive edilir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1435608"/>
            <a:ext cx="219456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2
(Ay 4–6)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4C"/>
                </a:solidFill>
              </a:rPr>
              <a:t>Segment B
Standart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~~3.200 merchant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onboarding
yoğunlaşır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1435608"/>
            <a:ext cx="21945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3
(Ay 6–8)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Segment A+B
Kalan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~~4.000 merchant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Self-serve kanal
devrede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59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59" y="1435608"/>
            <a:ext cx="219456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4
(Ay 7–9)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Segment D
KOBİ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~~900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Hafif operasyon
modeli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1435608"/>
            <a:ext cx="21945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55480" y="1435608"/>
            <a:ext cx="21945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19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Wave 5
(Ay 9–11)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87451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Segment C
Custom/Ajans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19" y="2176272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~~6.900 merchant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2450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En yoğun teknik
destek dönemi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5661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Her Merchant İçin Süreç Akışı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913632"/>
            <a:ext cx="21945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1. Envanter
&amp; Temas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913632"/>
            <a:ext cx="2194560" cy="5943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2. Teknik
Readiness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3913632"/>
            <a:ext cx="219456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7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3. Test
Ortamı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59" y="3913632"/>
            <a:ext cx="219456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4. Canlı
Geçiş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19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3913632"/>
            <a:ext cx="2194560" cy="59436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3950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5. Hypercare
(30 gün)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663440"/>
            <a:ext cx="117317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709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Haftalık KPI İzleme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Temas kurulan / Toplam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Test tamamlanan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Canlıya geçen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Açık issue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2395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▸ Ortalama geçiş süresi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Operasyon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Migration Factory — Ekip Yapısı ve 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15568"/>
            <a:ext cx="26517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1430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Program Direktörü
(Program Manager)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4592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29968"/>
            <a:ext cx="2286000" cy="47548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Project Lead
Stream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029968"/>
            <a:ext cx="2286000" cy="47548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Project Lead
Stream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29968"/>
            <a:ext cx="22860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Solution
Architect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29968"/>
            <a:ext cx="22860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0482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Sr. Payment
Consultant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697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Yürütme Ekipleri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017520"/>
            <a:ext cx="4572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017520"/>
            <a:ext cx="457200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4495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Merchant
Operasyon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40156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 Migration Specialist
Arama, takip, onboarding
randevu &amp; checklist yönetimi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017520"/>
            <a:ext cx="4572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3017520"/>
            <a:ext cx="457200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04495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Teknik
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40156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 Technical Spec.
API entegrasyon, test
hata analizi, troubleshoot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3017520"/>
            <a:ext cx="3200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017520"/>
            <a:ext cx="32004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304495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PMO &amp;
Raporlama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401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 PMO Analyst
KPI dashboard, wave plan
haftalık yönetim raporu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0" y="3017520"/>
            <a:ext cx="27432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258800" y="301752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350240" y="304495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QA &amp; Kalite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0" y="340156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 QA Specialist
Test kontrol, playbook
kalite güvence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230600" y="3017520"/>
            <a:ext cx="3200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230600" y="3017520"/>
            <a:ext cx="3200400" cy="347472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322040" y="304495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Support &amp;
Hypercare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22040" y="3401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 Support Spec.
Post-live destek, L1/L2
ticket yönetimi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572000"/>
            <a:ext cx="117317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6268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Ekip Özeti — Baz Senaryo (Faz 2 Yoğun Dönem)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Program Mgr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6192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Project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6624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6624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Solution 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7056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77056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Sr. Consultant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Tech Spec.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Migration Spec.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352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88352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PMO Analyst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8784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58784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QA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9216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8AC8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29216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49560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99648" y="5230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DEE"/>
                </a:solidFill>
              </a:rPr>
              <a:t>Toplam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Teknoloji &amp; Araçlar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Migration Factory'nin teknik omurgası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576072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1521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Proje &amp; İş Yönetimi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Jira / Asana — wave planı, issue takibi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7393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Confluence / Notion — playbook &amp; dokümantasyon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29967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Microsoft Teams — banka koordinasyonu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8600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Power BI / Looker — KPI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1556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15568"/>
            <a:ext cx="5760720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1521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Merchant İletişim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1790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CRM (HubSpot / Salesforce) — merchant takibi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7393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SMS gateway — toplu bildirim kampanyaları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29967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E-posta otomasyon — onboarding dizisi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Çağrı merkezi entegrasyonu — outbound dialing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58444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584448"/>
            <a:ext cx="5760720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6210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Teknik Test &amp; Entegrasyon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8678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Postman / Insomnia — API test ve dokümantasyon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4281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Sandbox ortamı — her segment için izole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98848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Webhook simulator — callback doğrulama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PCI-DSS SAQ-A / SAQ-A-EP compliance araçları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584448"/>
            <a:ext cx="57607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584448"/>
            <a:ext cx="57607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6210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E-Ticaret Platform Adaptörleri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86784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WooCommerce plugin — otomasyon geçiş paketi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42816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Shopify App — hazır entegrasyon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98848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Ticimax / IdeaSoft / T-Soft modülleri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754880"/>
            <a:ext cx="5440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OpenCart, PrestaShop adaptörleri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108192"/>
            <a:ext cx="117317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Risk Matrisi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Önceden tespit edilmiş riskler ve azaltma stratejileri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5994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152144"/>
            <a:ext cx="4480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115568"/>
            <a:ext cx="153619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152144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Olasılık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15568"/>
            <a:ext cx="16276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52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Etki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15568"/>
            <a:ext cx="38221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1152144"/>
            <a:ext cx="37033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Azaltma Stratejisi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435608"/>
            <a:ext cx="459943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146304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churn — platforma geçmeme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435608"/>
            <a:ext cx="153619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3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35608"/>
            <a:ext cx="1627632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4630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435608"/>
            <a:ext cx="3822191" cy="457200"/>
          </a:xfrm>
          <a:prstGeom prst="rect">
            <a:avLst/>
          </a:prstGeom>
          <a:solidFill>
            <a:srgbClr val="FFEBEE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1463040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Teşvik paketi, SLA taahhüdü, eski sistem paralel canlı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11095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1938527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entegrasyon gecikmesi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1911095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1938527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911095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93852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911095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4" y="1938527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Sandbox ortamı, plugin katalog, API backward compat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386584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2414016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Custom merchant oranı %15 aşıyor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386584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3" y="241401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386584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41401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2386584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2414016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Segment bazlı fiyatlama, discovery fazında tespit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862072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2889503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KYC/MASAK ret oranı yüksek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862072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3" y="2889503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862072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2889503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862072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01584" y="2889503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Başvuru öncesi ön eleme, e-devlet entegrasyonu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337560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" y="3364992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Banka veri kalitesi düşük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3337560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1183" y="336499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337560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3364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3337560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1584" y="3364992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Discovery fazında doğrulama, temizleme protokolü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813048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3840480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Proje 12 ay aşıyor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3813048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01183" y="384048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Düşük–Orta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813048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5664" y="384048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3813048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01584" y="3840480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 uzama bedeli maddesi sözleşmede yer alır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288536"/>
            <a:ext cx="45994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4315968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Kur hareketi (TL güçlenmesi)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4288536"/>
            <a:ext cx="153619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431596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288536"/>
            <a:ext cx="1627632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4315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4288536"/>
            <a:ext cx="3822191" cy="457200"/>
          </a:xfrm>
          <a:prstGeom prst="rect">
            <a:avLst/>
          </a:prstGeom>
          <a:solidFill>
            <a:srgbClr val="FFF3E0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01584" y="4315968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Sözleşmede kur güvence maddesi ±%15 bandı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764024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4791456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Platform uptime sorunu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0" y="4764024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01183" y="4791456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764024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55664" y="479145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Yüksek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4764024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01584" y="4791456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%99.9 SLA taahhüdü + monitoring + DR planı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5239512"/>
            <a:ext cx="45994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" y="5266944"/>
            <a:ext cx="44805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Ekip kapasitesi yetersizliği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6320" y="5239512"/>
            <a:ext cx="153619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01183" y="5266944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Düşük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5239512"/>
            <a:ext cx="162763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55664" y="52669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Orta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46720" y="5239512"/>
            <a:ext cx="3822191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01584" y="5266944"/>
            <a:ext cx="3703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Kademeli ramp-up, faz bazlı ölçekleme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Maliyet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Faz bazlı ekip yapısı ve operasyon maliyetleri — baz senaryo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Ekip Maliyet Tablosu — Faz Bazlı (Fully Loaded TL/ay)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17320"/>
            <a:ext cx="386791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1453896"/>
            <a:ext cx="374903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17320"/>
            <a:ext cx="190195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3" y="1453896"/>
            <a:ext cx="178307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1 (Ay 1–2)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17320"/>
            <a:ext cx="190195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3" y="1453896"/>
            <a:ext cx="178307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2 (Ay 3–11)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17320"/>
            <a:ext cx="1901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453896"/>
            <a:ext cx="17830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Faz 3 (Ay 12)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417320"/>
            <a:ext cx="1993391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0384" y="1453896"/>
            <a:ext cx="18745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Birim FL TL/ay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71907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174650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Program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71907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3" y="174650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71907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3" y="174650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71907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74650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71907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174650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240.000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993391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202082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Project / Stream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1993391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9663" y="20208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993391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3" y="20208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1993391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202082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993391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0384" y="202082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175.000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26771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229514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Solution Architect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26771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9663" y="22951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26771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9903" y="22951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226771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229514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0,5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26771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30384" y="229514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210.000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254203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3464" y="256946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Sr. Payment Consultant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54203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9663" y="25694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254203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3" y="25694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55279" y="254203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10144" y="256946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0,5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75520" y="254203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30384" y="256946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195.000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2816352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" y="284378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Technical Integration Spec.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281635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663" y="28437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2816352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9903" y="28437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816352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0144" y="284378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2816352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30384" y="284378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128.000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09067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3464" y="311810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Migration Spec.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0" y="309067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9663" y="311810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309067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9903" y="311810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309067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0144" y="311810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75520" y="309067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30384" y="311810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88.000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3364991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3464" y="339242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PMO / Reporting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336499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69663" y="33924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336499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9903" y="339242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55279" y="3364991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10144" y="339242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75520" y="3364991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30384" y="339242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95.000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3639312"/>
            <a:ext cx="3867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3464" y="366674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QA / Process Control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363931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3" y="36667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5040" y="3639312"/>
            <a:ext cx="19019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9903" y="366674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639312"/>
            <a:ext cx="19019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10144" y="366674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875520" y="3639312"/>
            <a:ext cx="199339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930384" y="366674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92.000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3913631"/>
            <a:ext cx="3867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3464" y="3941063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Support / Hypercare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0" y="391363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69663" y="39410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3913631"/>
            <a:ext cx="19019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89903" y="3941063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55279" y="3913631"/>
            <a:ext cx="19019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10144" y="3941063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875520" y="3913631"/>
            <a:ext cx="199339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930384" y="3941063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83.000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8600" y="4187952"/>
            <a:ext cx="3867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3464" y="4215384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 Toplam (TL)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14800" y="4187952"/>
            <a:ext cx="19019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69663" y="42153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1.650.000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035040" y="4187952"/>
            <a:ext cx="19019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89903" y="4215384"/>
            <a:ext cx="17830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3.050.000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55279" y="4187952"/>
            <a:ext cx="19019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10144" y="4215384"/>
            <a:ext cx="1783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1.578.500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875520" y="4187952"/>
            <a:ext cx="199339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930384" y="421538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45537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Senaryo Özeti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86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8600" y="4873752"/>
            <a:ext cx="365760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00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Agresif
(Optimize)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8B4C"/>
                </a:solidFill>
              </a:rPr>
              <a:t>~₺34M
~$49/merchant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00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Yüksek otomasyon,
temiz veri, banka desteği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148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14800" y="4873752"/>
            <a:ext cx="3657600" cy="36576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062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Baz Senaryo
(Önerilen)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062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8AC8"/>
                </a:solidFill>
              </a:rPr>
              <a:t>~₺41.7M
~$61/merchant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Makul koşullar,
standart ekip yapısı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873752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001000" y="4873752"/>
            <a:ext cx="3657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92440" y="4892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Koruyucu
(Risk Tamponlu)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92440" y="5285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~₺52.5M
~$77/merchant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092440" y="5650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Veri sorunu, kur
riski, proje uzaması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Gelir Senaryoları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3 senaryo analizi — setup fee + işlem geliri birlikte değerlendirmesi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789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Önerilen Teklif Yapısı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Keşif &amp; Pilot
Sabit Bedeli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$150K–250K
(sabit, 2–3 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Merchant Başı
Migrasyon (Standart)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65 USD
Seg. A &amp;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Merchant Başı
Migrasyon (Custom)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120–150 USD
Seg. C (ajans)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26464"/>
            <a:ext cx="2788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63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8B4C"/>
                </a:solidFill>
              </a:rPr>
              <a:t>İşlem Bazlı
Gelir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‰1.5–2.0
Ay 3'ten itibaren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24048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Gelir-Gider Analizi — 3 Senaryo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724912"/>
            <a:ext cx="414223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2761488"/>
            <a:ext cx="40233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Kalem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724912"/>
            <a:ext cx="23591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3" y="276148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A
(Korumalı)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724912"/>
            <a:ext cx="235915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2761488"/>
            <a:ext cx="2240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B
(Sadece Setup)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724912"/>
            <a:ext cx="27249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8864" y="2761488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Senaryo C
(Optimize)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035808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30632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Discovery + Pilot Sabit Gelir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35808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3" y="306323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₺6.0M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035808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306323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035808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306323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₺6.0M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310127"/>
            <a:ext cx="414223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333755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Setup Fee Geliri (15K merchant × ₺2.470)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310127"/>
            <a:ext cx="235915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3" y="333755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₺37.1M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10127"/>
            <a:ext cx="2359151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333755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₺44.5M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310127"/>
            <a:ext cx="2724912" cy="256032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333755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₺37.1M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584448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" y="361187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İşlem Geliri (ihtiyatlı, yıllık)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584448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3983" y="361187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₺24.0M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3584448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1424" y="361187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3584448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98864" y="361187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₺32.0M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858768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" y="388620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TOPLAM GELİR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858768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3983" y="388620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₺67.1M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3858768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388620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₺44.5M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858768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98864" y="388620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₺75.1M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133087"/>
            <a:ext cx="414223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416052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Toplam Operasyon Maliyeti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4133087"/>
            <a:ext cx="23591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43983" y="416052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(₺47.0M)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4133087"/>
            <a:ext cx="2359151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21424" y="416052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(₺47.0M)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0" y="4133087"/>
            <a:ext cx="272491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98864" y="416052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(₺41.0M)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4407408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BRÜT KATKI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4407408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43983" y="4434840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₺20.1M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0" y="4407408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21424" y="4434840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(₺2.5M)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4407408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98864" y="4434840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₺34.1M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4681727"/>
            <a:ext cx="414223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" y="470915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Brüt Katkı Marjı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89120" y="4681727"/>
            <a:ext cx="235915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43983" y="4709159"/>
            <a:ext cx="2240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%30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66560" y="4681727"/>
            <a:ext cx="2359151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21424" y="4709159"/>
            <a:ext cx="224027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Negatif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0" y="4681727"/>
            <a:ext cx="2724912" cy="256032"/>
          </a:xfrm>
          <a:prstGeom prst="rect">
            <a:avLst/>
          </a:prstGeom>
          <a:solidFill>
            <a:srgbClr val="D6EAF8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98864" y="4709159"/>
            <a:ext cx="2606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%45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5047488"/>
            <a:ext cx="11731752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🔑  Stratejik Sonuç:  Yalnızca setup fee ile çalışmak (Senaryo B) riskli ve negatif marjlı olabilir.
İşlem gelirinin sözleşmeye eklenmesi stratejik zorunluluktur. Korumalı model (%30 marj) önerilen pozisyon.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Başarı KPI'ları &amp; Ölçüm Çerçevesi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Ölçülebilir taahhütler — migration programının yönetim aracı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78231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152144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KPI Metriği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115568"/>
            <a:ext cx="263347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15214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Hedef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115568"/>
            <a:ext cx="217627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152144"/>
            <a:ext cx="2057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Ölçüm Frekansı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115568"/>
            <a:ext cx="1993391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0384" y="1152144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Sınır Değer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435608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1463040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Migration tamamlanma oranı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435608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463040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≥%70 portföy, 36 ay içinde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435608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4" y="1463040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435608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1463040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&lt;%60 → eskalasyon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874519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1901951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churn oranı (migration kaynaklı)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874519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4064" y="1901951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1874519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1901951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874519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0384" y="1901951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&gt;%25 → kriz protokolü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313432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2340864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Onboarding süresi — KOBİ segment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313432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064" y="2340864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≤3 iş günü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2313432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5824" y="2340864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313432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30384" y="2340864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&gt;5 gün → süreç revizyonu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752344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" y="2779775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Onboarding süresi — Kurumsal segment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752344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2779775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≤10 iş günü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2752344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35824" y="2779775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2752344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30384" y="2779775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&gt;15 gün → dedicated kaynak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191256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" y="3218688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Platform uptime (X Bank sanal POS)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191256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4064" y="3218688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≥%99.9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3191256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35824" y="3218688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Günlük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3191256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0384" y="3218688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&lt;%99.5 → SLA ihlali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630168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3657599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İşlem başarı oranı (3DS dahil)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630168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84064" y="3657599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≥%97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3630168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35824" y="3657599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Günlük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630168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30384" y="3657599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&lt;%95 → teknik analiz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69080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" y="4096512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Chargeback oranı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069080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84064" y="4096512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&lt;%0.5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80960" y="4069080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35824" y="4096512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Aylık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4069080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30384" y="4096512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&gt;%1 → risk protokolü (Visa/MC limit)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507992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4535424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NPS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4507992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84064" y="4535424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≥40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4507992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35824" y="4535424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Çeyreklik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20" y="4507992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30384" y="4535424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&lt;30 → müşteri deneyimi revizyonu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4946904"/>
            <a:ext cx="47823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" y="4974336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Teknik destek ticket çözüm süresi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4946904"/>
            <a:ext cx="26334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84064" y="4974336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≤48 saat (L1/L2)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80960" y="4946904"/>
            <a:ext cx="21762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35824" y="4974336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4946904"/>
            <a:ext cx="1993391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30384" y="4974336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&gt;72 saat → kaynak artışı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5385816"/>
            <a:ext cx="478231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3464" y="5413248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İlk 7 gün hata oranı (canlı geçiş sonrası)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5385816"/>
            <a:ext cx="26334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84064" y="5413248"/>
            <a:ext cx="2514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&lt;%3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5385816"/>
            <a:ext cx="2176272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35824" y="5413248"/>
            <a:ext cx="2057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Haftalık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75520" y="5385816"/>
            <a:ext cx="1993391" cy="420624"/>
          </a:xfrm>
          <a:prstGeom prst="rect">
            <a:avLst/>
          </a:prstGeom>
          <a:solidFill>
            <a:srgbClr val="F2F5F9"/>
          </a:solidFill>
          <a:ln w="381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30384" y="5413248"/>
            <a:ext cx="18745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&gt;%8 → hypercare uzatma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QNB Deneyimi — Referans Vaka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Mevcut Tedarikçi'den banka içi sanal POS'a geçiş — 2020, ~2.000 merchant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41148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41148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143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🏦  QNB Finansbank,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572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Proje Tipi: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5727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Mevcut Tedarikçi → Banka içi
sanal POS geçişi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847088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865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Portföy: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1865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~2.000 merchant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139696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157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Süre: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1579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~14 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432303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45059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Sonuç: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4505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Başarıyla tamamlandı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2724911"/>
            <a:ext cx="3840480" cy="1828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1115568"/>
            <a:ext cx="74066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1115568"/>
            <a:ext cx="7406640" cy="384048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114300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Sahadan Çıkan 6 Kritik 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554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155448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Toplu e-posta ile migration gerçekleşmiyor — aktif arama + birebir takip şart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18288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182880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Merchant teknik kapasitesi heterojen — tek tip plan başarısız olur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21031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5192" y="210312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Segmentasyon yapılmadan ekip verimsizleşiyor — önce sınıflandır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37743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237743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Hazır paket kullanıcılar için partner/entegratör kanalı ayrıca yönetilmeli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265175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265175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Merchant karar alma hızı en kritik darboğaz — takip sürekliliği şart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926079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AC8"/>
                </a:solidFill>
              </a:rPr>
              <a:t>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2926079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Geçiş sonrası ilk 7 gün destek penceresi başarı için olmazsa olmaz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703320"/>
            <a:ext cx="74066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3703320"/>
            <a:ext cx="74066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730752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 Bank için Bu Deneyimin Değeri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4133087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Benzer Mevcut Tedarikçi yapısını daha önce gördük — sürpriz yok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4389120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Hazır playbook ve segmentasyon metodolojisi mevcut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645152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Merchant başına gerçek efor tahminlerine sahibiz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4901184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Karmaşık segment (ajans bağımlı) için ayrı protokol geliştirildi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5152" y="5157216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İlk gün/ilk hafta destek modelini sahadaki hatalardan öğrendik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5152" y="5413248"/>
            <a:ext cx="7132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✓  X Bank için öngörülü risk yönetimi uygulayabiliriz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Finhouse Katkısı &amp; Farklılaşma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Neden Finhouse — standart outsource'dan farkımız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115568"/>
            <a:ext cx="576072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17043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💳  Ödeme Sistemi
Domain Uzmanlığı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9105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Sanal POS, 3D Secure, MPI/ACS, provizyon akışları bilgisi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653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Türkiye ödeme ekosistemini (Mevcut Tedarikçi, iyzico, BKM) yakından tanıma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39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BDDK/TCMB mevzuat farkındalığı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1556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15568"/>
            <a:ext cx="5760720" cy="41148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17043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🏭  Migration Factory
Metodolojisi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9105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Hazır playbook: segment bazlı onboarding protokolü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653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QNB deneyiminden damıtılmış süreç mimarisi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39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Wave planı şablonu ve KPI çerçevesi hazır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49300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493008"/>
            <a:ext cx="576072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354787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Operasyon + Teknik
Tek Çatı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9684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Merchant iletişimi, teknik enablement, PMO ayrı ekipler değil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428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Banka dilini ve merchant gerçekliğini aynı anda okuma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1713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Koordinasyon maliyeti ve gecikmesi minimize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93008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493008"/>
            <a:ext cx="57607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54787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Ölçülebilir
Delivery Taahhüdü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684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KPI dashboard haftalık yönetim raporuyla sunulur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428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Discovery fazı çıktısı somut ve test edilebilir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1713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▸  Başarı kriteri net: canlı ilk işlem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6053328"/>
            <a:ext cx="117317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1447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Tek Cümle:  Finhouse, X Bank'a sadece insan kaynağı değil — hazır metodoloji, saha deneyimi ve ölçülebilir sonuç modeli sunar.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12 Aylık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Ay bazlı migration planı — faz geçişleri ve kilometre taşları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932688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1115568"/>
            <a:ext cx="932688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416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1136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2232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77456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4272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1115568"/>
            <a:ext cx="932688" cy="347472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91088" y="1115568"/>
            <a:ext cx="932688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36808" y="1143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1627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Discovery &amp; Analiz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618488"/>
            <a:ext cx="868680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52728" y="1618488"/>
            <a:ext cx="868680" cy="3108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31136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9544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66360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23176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79992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0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036808" y="161848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2048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Pilot (100-300 merchant)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52728" y="2039112"/>
            <a:ext cx="868680" cy="310896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31136" y="2039112"/>
            <a:ext cx="868680" cy="310896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9544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87952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6636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44768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23176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1584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9992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8400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36808" y="203911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2468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1 — Seg. A Hazır Paket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5272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31136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9544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87952" y="2459736"/>
            <a:ext cx="868680" cy="31089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6636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4476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23176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01584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79992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36808" y="245973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8600" y="2889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2 — Seg. B Standart API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52728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31136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9544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87952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66360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44768" y="2880360"/>
            <a:ext cx="868680" cy="310896"/>
          </a:xfrm>
          <a:prstGeom prst="rect">
            <a:avLst/>
          </a:prstGeom>
          <a:solidFill>
            <a:srgbClr val="218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23176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01584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79992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58400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36808" y="2880360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" y="33101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3 — Seg. A+B Kalan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252728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31136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9544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87952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66360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44768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23176" y="3300984"/>
            <a:ext cx="868680" cy="3108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01584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79992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58400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036808" y="3300984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8600" y="3730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4 — Seg. D KOBİ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52728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231136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09544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87952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16636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44768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123176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01584" y="3721608"/>
            <a:ext cx="868680" cy="31089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079992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58400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36808" y="3721608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8600" y="41513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5 — Seg. C Custom/Ajans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5272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31136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9544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187952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66360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14476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123176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101584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079992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058400" y="4142232"/>
            <a:ext cx="868680" cy="3108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36808" y="4142232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28600" y="4572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Hypercare &amp; Kapanış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252728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231136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09544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87952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166360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144768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123176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101584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79992" y="4562856"/>
            <a:ext cx="868680" cy="310896"/>
          </a:xfrm>
          <a:prstGeom prst="rect">
            <a:avLst/>
          </a:prstGeom>
          <a:solidFill>
            <a:srgbClr val="F2F5F9"/>
          </a:solidFill>
          <a:ln w="254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058400" y="4562856"/>
            <a:ext cx="868680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1036808" y="4562856"/>
            <a:ext cx="868680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8600" y="5074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Kilometre Taşları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860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0040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Ay 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Discovery raporu
+ pilot sonuçları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56032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651760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AC8"/>
                </a:solidFill>
              </a:rPr>
              <a:t>Ay 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51760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Wave 1 tamamlandı
~3.000 merchant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9204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98347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B4C"/>
                </a:solidFill>
              </a:rPr>
              <a:t>Ay 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98347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Portföyün %50'si
canlıya geçti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223759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1519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</a:rPr>
              <a:t>Ay 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31519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Portföyün %80'i
migre edildi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555480" y="5376672"/>
            <a:ext cx="2194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46919" y="5413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D3C98"/>
                </a:solidFill>
              </a:rPr>
              <a:t>Ay 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46919" y="5641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Program kapandı
final rapor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Sonraki Adım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Discovery fazına başlamak için 3 adım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34747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Discovery Toplantısı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X Bank ile 1 günlük workshop:
mevcut durum, öncelikler, başarı kriteri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52928"/>
            <a:ext cx="320040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2A4A"/>
                </a:solidFill>
              </a:rPr>
              <a:t>⏱  Bu hafta / önümüzdeki hafta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70432"/>
            <a:ext cx="3474720" cy="502920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AC8"/>
                </a:solidFill>
              </a:rPr>
              <a:t>Ön Veri Seti Paylaşımı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Merchant listesi, hacim özeti,
entegrasyon tipi dağılımı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852928"/>
            <a:ext cx="32004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8AC8"/>
                </a:solidFill>
              </a:rPr>
              <a:t>⏱  Toplantı sonrası 5 iş günü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170432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170432"/>
            <a:ext cx="347472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207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ADIM 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Pilot Kapsamı &amp; Teklif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100–300 merchant pilot planı,
nihai SOW ve fiyat netleştirilir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852928"/>
            <a:ext cx="3200400" cy="3657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E8B4C"/>
                </a:solidFill>
              </a:rPr>
              <a:t>⏱  Veri alındıktan 5 iş günü sonra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251960"/>
            <a:ext cx="11731752" cy="1508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159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İletişim &amp; Bir Sonraki Toplantı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817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AC8"/>
                </a:solidFill>
              </a:rPr>
              <a:t>Ayhan Ağırgöl  |  Finhouse Danışmanlık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974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ayhan.agirgol@finhouse.com.tr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230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6177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"18.000 merchant'ı 12 ayda taşımak — sahadan gelen metodoloji, ölçülebilir sonuç."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Ekler — Referans Veri &amp;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Araştırma metodolojisi ve veri güvenilirliği notu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C3C7"/>
                </a:solidFill>
              </a:rPr>
              <a:t>Finhouse — X Bank Merchant Migration Program  |  Gizli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B8AC8"/>
                </a:solidFill>
              </a:rPr>
              <a:t>finhouse.ai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6696"/>
            <a:ext cx="12188952" cy="5541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97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Doğrulanan Kaynaklar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44752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Stripe Connect Migration Docs — docs.stripe.com/connect/migrate-to-controller-properties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700784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Stripe Pricing — stripe.com/pricing (kamuya açık, doğrulandı)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956816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Adyen Pricing — adyen.com/pricing (Interchange++ model, doğrulandı)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212848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BKM 2024 Yıllık İstatistikleri — bkm.com.tr/istatistikler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468880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TCMB Ödeme İstatistikleri — tcmb.gov.tr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724912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BDDK Ödeme Hizmetleri Lisans Veritabanı — bddk.org.tr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980944"/>
            <a:ext cx="5852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✓  iyzico Ürün Sayfası — iyzico.com (Türkiye yerel benchmark)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Sektör Verisi (Yaklaşık / Kamuya Açık Değil)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44475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Mevcut Tedarikçi/Asseco SEE fiyat yapısı — sektör müzakere bilgisi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00784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Worldpay/FIS, PayPal/Braintree migration süreleri — sektör raporu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56816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Türkiye yerel banka Mevcut Tedarikçi→kendi gateway geçişi — sektör içi bilgi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1284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McKinsey Global Payments 2023 — erişim engellendi, genel bilinirlik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8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MDR bantları (iyzico, Paynet, banka) — münferit sözleşme gözlemi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724912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⚠  Merchant churn %15–30 riski — sektör tahmini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310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Terimler Sözlüğü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365760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MDR: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657600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 Discount Rate — işlem komisyon oranı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391363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KYC / MASAK: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913632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Müşterini Tanı / suç gelirlerinin aklanmasını önleme kontrolü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1696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3D Secure: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169664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Kartlı ödeme güvenlik protokolü (Visa Secure / MC ID Check)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44256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PCI-DSS SAQ-A: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425696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Ödeme güvenlik standardı — hosted page kullanıcılar için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Wave Migration: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657600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Merchant'ların segment ve öncelik sırasıyla dalgalar halinde taşınması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91363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Never Dark: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913632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Geçiş sürecinde hiçbir merchant'ın işlem yapamamaz duruma düşmemesi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16966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IC++ (Interchange++):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169664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Kart ağı maliyeti + banka marjı + işlemci ücreti şeffaf ayrıştırma modeli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42569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Hypercare: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425696"/>
            <a:ext cx="4206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Canlı geçiş sonrası ilk 30 gün yoğun teknik destek penceresi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4064"/>
            <a:ext cx="12188952" cy="1773936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finhouse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B8AC8"/>
                </a:solidFill>
              </a:rPr>
              <a:t>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Fintech &amp; AI Çözümleri  |  Danışmanlık  |  Operasyon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4572000" cy="36576"/>
          </a:xfrm>
          <a:prstGeom prst="rect">
            <a:avLst/>
          </a:prstGeom>
          <a:solidFill>
            <a:srgbClr val="1B8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ayhan.agirgol@finhouse.com.tr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AC8"/>
                </a:solidFill>
              </a:rPr>
              <a:t>www.finhouse.ai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AACC"/>
                </a:solidFill>
              </a:rPr>
              <a:t>Bu doküman X Bank yetkilileri için hazırlanmıştır.
Gizli — Üçüncü şahıslarla paylaşılamaz.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653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C3C7"/>
                </a:solidFill>
              </a:rPr>
              <a:t>Toplam: 22 slayt  |  Finhouse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